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3" r:id="rId17"/>
    <p:sldId id="274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hyperlink" Target="https://1drv.ms/x/c/9ab31bacdb11dac7/IQCDEwCW-L8oQ7jBc10AgWoSARFB__McJOa1rfCiUNa6rTs?e=uPT7h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RAILWAY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End-to-End Data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Analysis Project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77240" y="4526280"/>
            <a:ext cx="10972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raw CSV to interactive dashboards, Python, SQL, Excel &amp; Power BI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B5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Final Team Discussion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•  PROJECT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this project is about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end-to-end analysis of a UK railway transactions dataset, moving from raw, inconsistent data to clean insights that support operational and business decisions.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2606040" cy="1371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9" name="Text 7"/>
          <p:cNvSpPr/>
          <p:nvPr/>
        </p:nvSpPr>
        <p:spPr>
          <a:xfrm>
            <a:off x="548640" y="338328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31,653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240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3108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108960"/>
            <a:ext cx="2606040" cy="1371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3" name="Text 11"/>
          <p:cNvSpPr/>
          <p:nvPr/>
        </p:nvSpPr>
        <p:spPr>
          <a:xfrm>
            <a:off x="3337560" y="338328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520440" y="4663440"/>
            <a:ext cx="2240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108960"/>
            <a:ext cx="2606040" cy="1371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7" name="Text 15"/>
          <p:cNvSpPr/>
          <p:nvPr/>
        </p:nvSpPr>
        <p:spPr>
          <a:xfrm>
            <a:off x="6126480" y="338328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309360" y="4663440"/>
            <a:ext cx="2240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used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15400" y="3108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3108960"/>
            <a:ext cx="2606040" cy="1371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1" name="Text 19"/>
          <p:cNvSpPr/>
          <p:nvPr/>
        </p:nvSpPr>
        <p:spPr>
          <a:xfrm>
            <a:off x="8915400" y="338328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098280" y="4663440"/>
            <a:ext cx="2240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cleaning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• 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 set out to do</a:t>
            </a:r>
            <a:endParaRPr lang="en-US" sz="40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371600" y="173736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Assess</a:t>
            </a:r>
            <a:endParaRPr lang="en-US" sz="22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371600" y="224028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and resolve missing values, duplicates and inconsistent categories.</a:t>
            </a:r>
            <a:endParaRPr lang="en-US" sz="14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040880" y="173736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Explore</a:t>
            </a:r>
            <a:endParaRPr lang="en-US" sz="22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7040880" y="224028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 patterns in journey performance, revenue, delays and passenger behaviour.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548640" y="3383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371600" y="32918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Enrich</a:t>
            </a:r>
            <a:endParaRPr lang="en-US" sz="22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1371600" y="379476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metrics, delay time, booking lead days, refund eligibility.</a:t>
            </a: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217920" y="3383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7040880" y="32918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Query</a:t>
            </a:r>
            <a:endParaRPr lang="en-US" sz="22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7040880" y="379476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business questions in SQL on route, delay and revenue performance.</a:t>
            </a: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548640" y="49377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1371600" y="48463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</a:t>
            </a:r>
            <a:endParaRPr lang="en-US" sz="22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1371600" y="534924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 with Fact + Dimension tables for scalable reporting.</a:t>
            </a:r>
            <a:endParaRPr lang="en-US" sz="1400" dirty="0"/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6217920" y="49377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7040880" y="48463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Visualise</a:t>
            </a:r>
            <a:endParaRPr lang="en-US" sz="22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7040880" y="534924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Excel dashboard and 3-page Power BI report.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•  THE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railway.csv — what's inside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37160" cy="8686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8" name="Text 6"/>
          <p:cNvSpPr/>
          <p:nvPr/>
        </p:nvSpPr>
        <p:spPr>
          <a:xfrm>
            <a:off x="822960" y="1719072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5303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• Date &amp; Time of Purchase • Purchase Type • Payment Method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51760"/>
            <a:ext cx="137160" cy="8686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10"/>
          <p:cNvSpPr/>
          <p:nvPr/>
        </p:nvSpPr>
        <p:spPr>
          <a:xfrm>
            <a:off x="822960" y="2724912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Ticket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5303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Railcard • Class • Type • Price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57600"/>
            <a:ext cx="137160" cy="8686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6" name="Text 14"/>
          <p:cNvSpPr/>
          <p:nvPr/>
        </p:nvSpPr>
        <p:spPr>
          <a:xfrm>
            <a:off x="822960" y="3730752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Journey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5303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Departure &amp; Arrival Station • Date • Scheduled &amp; Actual Times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663440"/>
            <a:ext cx="137160" cy="8686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0" name="Text 18"/>
          <p:cNvSpPr/>
          <p:nvPr/>
        </p:nvSpPr>
        <p:spPr>
          <a:xfrm>
            <a:off x="822960" y="4736592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Outcome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5303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Journey Status • Reason for Delay • Refund Request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1645920"/>
            <a:ext cx="5120640" cy="466344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3" name="Text 21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240280"/>
            <a:ext cx="4572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31,653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5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transactions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66560" y="4023360"/>
            <a:ext cx="10972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206240"/>
            <a:ext cx="4572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original columns covering pricing, route, scheduling, delay cause and refund behaviour across multiple UK stations.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•  PYTHON  •  DATA UNDERSTANDING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Getting to know the data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7" name="Text 5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.shape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dimensions — 31,653 × 18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20040" cy="32004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1" name="Text 9"/>
          <p:cNvSpPr/>
          <p:nvPr/>
        </p:nvSpPr>
        <p:spPr>
          <a:xfrm>
            <a:off x="548640" y="26060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.head() / .tail()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Preview first and last rows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5" name="Text 13"/>
          <p:cNvSpPr/>
          <p:nvPr/>
        </p:nvSpPr>
        <p:spPr>
          <a:xfrm>
            <a:off x="548640" y="33832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.columns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column names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19" name="Text 17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.dtypes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 inspection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20040" cy="320040"/>
          </a:xfrm>
          <a:prstGeom prst="ellipse">
            <a:avLst/>
          </a:prstGeom>
          <a:solidFill>
            <a:srgbClr val="064E3B"/>
          </a:solidFill>
        </p:spPr>
      </p:sp>
      <p:sp>
        <p:nvSpPr>
          <p:cNvPr id="23" name="Text 21"/>
          <p:cNvSpPr/>
          <p:nvPr/>
        </p:nvSpPr>
        <p:spPr>
          <a:xfrm>
            <a:off x="548640" y="49377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.describe()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52120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statistics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9" name="Text 27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14</a:t>
            </a:r>
            <a:endParaRPr lang="en-US" sz="11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510" y="1736725"/>
            <a:ext cx="668020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•  PYTHON  •  DATA CLEANING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messy to clean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D7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Missing values — handled with logic, not guesses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solidFill>
            <a:srgbClr val="064E3B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96596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96596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Railcard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51460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20,918  (66%)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Filled with “No Railcard” — absence is meaningful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11064240" cy="502920"/>
          </a:xfrm>
          <a:prstGeom prst="rect">
            <a:avLst/>
          </a:prstGeom>
          <a:solidFill>
            <a:srgbClr val="F1ECDC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for Delay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06324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27,481  (87%)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06324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Time → “No Delay”; Delayed/Cancelled → “Unknown”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3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Arrival 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61188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1,880  (6%)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61188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Cancelled → “Cancelled”; else → “Unknown”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3566160" cy="1737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4" name="Shape 22"/>
          <p:cNvSpPr/>
          <p:nvPr/>
        </p:nvSpPr>
        <p:spPr>
          <a:xfrm>
            <a:off x="548640" y="4434840"/>
            <a:ext cx="3566160" cy="10972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5" name="Text 23"/>
          <p:cNvSpPr/>
          <p:nvPr/>
        </p:nvSpPr>
        <p:spPr>
          <a:xfrm>
            <a:off x="731520" y="46177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Type fixes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4983480"/>
            <a:ext cx="3291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of Purchase &amp;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of Journey             → datetime64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4434840"/>
            <a:ext cx="3566160" cy="1737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8" name="Shape 26"/>
          <p:cNvSpPr/>
          <p:nvPr/>
        </p:nvSpPr>
        <p:spPr>
          <a:xfrm>
            <a:off x="4297680" y="4434840"/>
            <a:ext cx="3566160" cy="10972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9" name="Text 27"/>
          <p:cNvSpPr/>
          <p:nvPr/>
        </p:nvSpPr>
        <p:spPr>
          <a:xfrm>
            <a:off x="4480560" y="46177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Duplicates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80560" y="4983480"/>
            <a:ext cx="3291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fully duplicate rows found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46720" y="4434840"/>
            <a:ext cx="3566160" cy="1737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2" name="Shape 30"/>
          <p:cNvSpPr/>
          <p:nvPr/>
        </p:nvSpPr>
        <p:spPr>
          <a:xfrm>
            <a:off x="8046720" y="4434840"/>
            <a:ext cx="3566160" cy="10972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3" name="Text 31"/>
          <p:cNvSpPr/>
          <p:nvPr/>
        </p:nvSpPr>
        <p:spPr>
          <a:xfrm>
            <a:off x="8229600" y="46177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Standardised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0" y="4983480"/>
            <a:ext cx="3291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 </a:t>
            </a: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Conditions</a:t>
            </a: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→Weather,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failure→Signal Failure,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Staff Shortage</a:t>
            </a: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sz="13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Staffing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•  </a:t>
            </a: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action="ppaction://hlinkfile"/>
              </a:rPr>
              <a:t>EXCEL</a:t>
            </a: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 UK TRAIN STATION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Interactive Excel dashboard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D7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 charts  •  4 KPI cards  •  3 connected slicers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96012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96012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9" name="Text 7"/>
          <p:cNvSpPr/>
          <p:nvPr/>
        </p:nvSpPr>
        <p:spPr>
          <a:xfrm>
            <a:off x="777240" y="196596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3.88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Delay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840480" cy="96012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2" name="Shape 10"/>
          <p:cNvSpPr/>
          <p:nvPr/>
        </p:nvSpPr>
        <p:spPr>
          <a:xfrm>
            <a:off x="548640" y="3017520"/>
            <a:ext cx="109728" cy="96012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3" name="Text 11"/>
          <p:cNvSpPr/>
          <p:nvPr/>
        </p:nvSpPr>
        <p:spPr>
          <a:xfrm>
            <a:off x="777240" y="306324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£741,921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840480" cy="96012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96012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7" name="Text 15"/>
          <p:cNvSpPr/>
          <p:nvPr/>
        </p:nvSpPr>
        <p:spPr>
          <a:xfrm>
            <a:off x="777240" y="416052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£23.44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Ticket Price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840480" cy="96012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0" name="Shape 18"/>
          <p:cNvSpPr/>
          <p:nvPr/>
        </p:nvSpPr>
        <p:spPr>
          <a:xfrm>
            <a:off x="548640" y="5212080"/>
            <a:ext cx="109728" cy="96012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1" name="Text 19"/>
          <p:cNvSpPr/>
          <p:nvPr/>
        </p:nvSpPr>
        <p:spPr>
          <a:xfrm>
            <a:off x="777240" y="525780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31,653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7240" y="576072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Journeys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14</a:t>
            </a:r>
            <a:endParaRPr lang="en-US" sz="11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rcRect r="1784" b="5138"/>
          <a:stretch>
            <a:fillRect/>
          </a:stretch>
        </p:blipFill>
        <p:spPr>
          <a:xfrm>
            <a:off x="4709160" y="2371090"/>
            <a:ext cx="7305675" cy="3259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•  EXCEL  •  CHARTS &amp; SLICERS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each visual answers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8" name="Text 6"/>
          <p:cNvSpPr/>
          <p:nvPr/>
        </p:nvSpPr>
        <p:spPr>
          <a:xfrm>
            <a:off x="822960" y="178308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Monthly Journey Trend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Combo chart — journeys (bars) + revenue (line), Jan–Apr 2024.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10"/>
          <p:cNvSpPr/>
          <p:nvPr/>
        </p:nvSpPr>
        <p:spPr>
          <a:xfrm>
            <a:off x="6492240" y="178308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Revenue by Ticket Type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 leads at £309,274.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5468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6" name="Text 14"/>
          <p:cNvSpPr/>
          <p:nvPr/>
        </p:nvSpPr>
        <p:spPr>
          <a:xfrm>
            <a:off x="822960" y="329184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Railcard × Class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No-Railcard Standard dominates at 18,933.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0" name="Text 18"/>
          <p:cNvSpPr/>
          <p:nvPr/>
        </p:nvSpPr>
        <p:spPr>
          <a:xfrm>
            <a:off x="6492240" y="329184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Delay Status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 — 86.82% no delay.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6344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4" name="Text 22"/>
          <p:cNvSpPr/>
          <p:nvPr/>
        </p:nvSpPr>
        <p:spPr>
          <a:xfrm>
            <a:off x="822960" y="480060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Top 10 Delayed Routes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Manchester Piccadilly → London St Pancras at 22.4 min.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6634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8" name="Text 26"/>
          <p:cNvSpPr/>
          <p:nvPr/>
        </p:nvSpPr>
        <p:spPr>
          <a:xfrm>
            <a:off x="6492240" y="480060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Slicers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92240" y="521208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Journey Status  •  Payment Method  •  Purchase Type.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•  SQL SERVER  •  BUSINESS QUERIES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Five queries, five answers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imported from Excel into a clean SQL Server 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86400" cy="6858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8" name="Shape 6"/>
          <p:cNvSpPr/>
          <p:nvPr/>
        </p:nvSpPr>
        <p:spPr>
          <a:xfrm>
            <a:off x="548640" y="2057400"/>
            <a:ext cx="640080" cy="6858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9" name="Text 7"/>
          <p:cNvSpPr/>
          <p:nvPr/>
        </p:nvSpPr>
        <p:spPr>
          <a:xfrm>
            <a:off x="548640" y="2057400"/>
            <a:ext cx="640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On-Time Rate by Route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486400" cy="6858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2" name="Shape 10"/>
          <p:cNvSpPr/>
          <p:nvPr/>
        </p:nvSpPr>
        <p:spPr>
          <a:xfrm>
            <a:off x="548640" y="2834640"/>
            <a:ext cx="640080" cy="6858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3" name="Text 11"/>
          <p:cNvSpPr/>
          <p:nvPr/>
        </p:nvSpPr>
        <p:spPr>
          <a:xfrm>
            <a:off x="548640" y="2834640"/>
            <a:ext cx="640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&amp; Max Delay by Reason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86400" cy="6858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6" name="Shape 14"/>
          <p:cNvSpPr/>
          <p:nvPr/>
        </p:nvSpPr>
        <p:spPr>
          <a:xfrm>
            <a:off x="548640" y="3611880"/>
            <a:ext cx="640080" cy="6858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7" name="Text 15"/>
          <p:cNvSpPr/>
          <p:nvPr/>
        </p:nvSpPr>
        <p:spPr>
          <a:xfrm>
            <a:off x="548640" y="3611880"/>
            <a:ext cx="640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Revenue Trend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5486400" cy="6858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0" name="Shape 18"/>
          <p:cNvSpPr/>
          <p:nvPr/>
        </p:nvSpPr>
        <p:spPr>
          <a:xfrm>
            <a:off x="548640" y="4389120"/>
            <a:ext cx="640080" cy="6858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1" name="Text 19"/>
          <p:cNvSpPr/>
          <p:nvPr/>
        </p:nvSpPr>
        <p:spPr>
          <a:xfrm>
            <a:off x="548640" y="4389120"/>
            <a:ext cx="640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Refunds by Journey Status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5486400" cy="6858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4" name="Shape 22"/>
          <p:cNvSpPr/>
          <p:nvPr/>
        </p:nvSpPr>
        <p:spPr>
          <a:xfrm>
            <a:off x="548640" y="5166360"/>
            <a:ext cx="640080" cy="6858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5" name="Text 23"/>
          <p:cNvSpPr/>
          <p:nvPr/>
        </p:nvSpPr>
        <p:spPr>
          <a:xfrm>
            <a:off x="548640" y="5166360"/>
            <a:ext cx="640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516636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 Most Delayed Routes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14</a:t>
            </a:r>
            <a:endParaRPr lang="en-US" sz="11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225" y="2058035"/>
            <a:ext cx="5925185" cy="3794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•  SQL  •  QUERY SPOTLIGHT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Top 5 most delayed routes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858000" cy="4572000"/>
          </a:xfrm>
          <a:prstGeom prst="rect">
            <a:avLst/>
          </a:prstGeom>
          <a:solidFill>
            <a:srgbClr val="0A1F18"/>
          </a:solidFill>
        </p:spPr>
      </p:sp>
      <p:sp>
        <p:nvSpPr>
          <p:cNvPr id="7" name="Shape 5"/>
          <p:cNvSpPr/>
          <p:nvPr/>
        </p:nvSpPr>
        <p:spPr>
          <a:xfrm>
            <a:off x="548640" y="1554480"/>
            <a:ext cx="6858000" cy="32004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8" name="Text 6"/>
          <p:cNvSpPr/>
          <p:nvPr/>
        </p:nvSpPr>
        <p:spPr>
          <a:xfrm>
            <a:off x="731520" y="157276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query_5.sql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6492240" cy="4069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TOP 5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Route,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COUNT(*)              AS Total_Delayed,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ROUND(AVG([ Delay_Time]),2)  AS Avg_Delay_Mins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Railway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Journey_Status = 'Delayed'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Route</a:t>
            </a:r>
            <a:endParaRPr lang="en-US" altLang="en-GB" sz="1300" dirty="0">
              <a:solidFill>
                <a:srgbClr val="F5F0E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altLang="en-GB" sz="1300" dirty="0">
                <a:solidFill>
                  <a:srgbClr val="F5F0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Total_Delayed DESC;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45720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1" name="Text 9"/>
          <p:cNvSpPr/>
          <p:nvPr/>
        </p:nvSpPr>
        <p:spPr>
          <a:xfrm>
            <a:off x="7863840" y="17373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148840"/>
            <a:ext cx="3657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handful of routes drive most of the delay volume — perfect targets for operational focus.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0" y="429768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4480560"/>
            <a:ext cx="3657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5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with Q2 (delay reasons), these routes become a prioritised remediation backlog.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•  POWER BI  •  STAR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54480"/>
            <a:ext cx="2011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Dim 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297680"/>
            <a:ext cx="2011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Dim Journey Status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4297680"/>
            <a:ext cx="2011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0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Dim Station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5275" y="6369685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dimensions × 1 fact — efficient, intuitive filtering across every report page.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14</a:t>
            </a:r>
            <a:endParaRPr lang="en-US" sz="11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10" y="693420"/>
            <a:ext cx="10978515" cy="5558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•  POWER BI  •  THREE-PAGE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Overview · Revenue ·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3611880" cy="594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8" name="Text 6"/>
          <p:cNvSpPr/>
          <p:nvPr/>
        </p:nvSpPr>
        <p:spPr>
          <a:xfrm>
            <a:off x="731520" y="1627632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 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Transactions, AVG Delay, Net Revenue, AVG Ticket Price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3291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Credit Card leads payments (61.29%). Top crowded route: Manchester Piccadilly → Liverpool (1,110).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160020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600200"/>
            <a:ext cx="3611880" cy="594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16" name="Text 14"/>
          <p:cNvSpPr/>
          <p:nvPr/>
        </p:nvSpPr>
        <p:spPr>
          <a:xfrm>
            <a:off x="4526280" y="1627632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 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3317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60604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Revenue, Expenses, Net Revenue, Refund Gauge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397764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1148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4389120"/>
            <a:ext cx="3291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Advance tickets highest at £309,274. Refund rate 3.47% — above 2% target.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600200"/>
            <a:ext cx="3611880" cy="594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24" name="Text 22"/>
          <p:cNvSpPr/>
          <p:nvPr/>
        </p:nvSpPr>
        <p:spPr>
          <a:xfrm>
            <a:off x="8321040" y="1627632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  PERFORMANCE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23317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260604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On-Time, Delayed, Cancelled gauges + delay analysis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0" y="397764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1148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389120"/>
            <a:ext cx="3291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On-time 87.03% (vs 90% target). Weather worst in April at 32.93 min.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•  POWER BI  •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Overview 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3611880" cy="59436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8" name="Text 6"/>
          <p:cNvSpPr/>
          <p:nvPr/>
        </p:nvSpPr>
        <p:spPr>
          <a:xfrm>
            <a:off x="731520" y="1627632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 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Transactions, AVG Delay, Net Revenue, AVG Ticket Price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3291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Credit Card leads payments (61.29%). Top crowded route: Manchester Piccadilly → Liverpool (1,110).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14</a:t>
            </a:r>
            <a:endParaRPr lang="en-US" sz="11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770" y="1795145"/>
            <a:ext cx="7440295" cy="4133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 •  POWER BI  •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Revenue </a:t>
            </a:r>
            <a:endParaRPr lang="en-US" sz="32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548640" y="1581785"/>
            <a:ext cx="3611880" cy="4572000"/>
            <a:chOff x="6840" y="2520"/>
            <a:chExt cx="5688" cy="7200"/>
          </a:xfrm>
        </p:grpSpPr>
        <p:sp>
          <p:nvSpPr>
            <p:cNvPr id="14" name="Shape 12"/>
            <p:cNvSpPr/>
            <p:nvPr/>
          </p:nvSpPr>
          <p:spPr>
            <a:xfrm>
              <a:off x="6840" y="2520"/>
              <a:ext cx="5688" cy="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D7A5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840" y="2520"/>
              <a:ext cx="5688" cy="936"/>
            </a:xfrm>
            <a:prstGeom prst="rect">
              <a:avLst/>
            </a:prstGeom>
            <a:solidFill>
              <a:srgbClr val="064E3B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7128" y="2563"/>
              <a:ext cx="5184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9A84C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02  REVENUE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128" y="3672"/>
              <a:ext cx="5184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0D7A5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KPIs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128" y="4104"/>
              <a:ext cx="5184" cy="201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0A1F1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Total Revenue, Expenses, Net Revenue, Refund Gauge</a:t>
              </a:r>
              <a:endParaRPr lang="en-US" sz="13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128" y="6264"/>
              <a:ext cx="1440" cy="0"/>
            </a:xfrm>
            <a:prstGeom prst="line">
              <a:avLst/>
            </a:prstGeom>
            <a:noFill/>
            <a:ln w="25400">
              <a:solidFill>
                <a:srgbClr val="C9A84C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128" y="6480"/>
              <a:ext cx="5184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0D7A5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INSIGHT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128" y="6912"/>
              <a:ext cx="5184" cy="26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064E3B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Advance tickets highest at £309,274. Refund rate 3.47% — above 2% target.</a:t>
              </a:r>
              <a:endParaRPr lang="en-US" sz="13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14</a:t>
            </a:r>
            <a:endParaRPr lang="en-US" sz="11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5135" y="1691640"/>
            <a:ext cx="7813675" cy="42913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 •  POWER BI  •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Performance</a:t>
            </a:r>
            <a:endParaRPr lang="en-US" sz="32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548640" y="1627505"/>
            <a:ext cx="3611880" cy="4572000"/>
            <a:chOff x="12816" y="2520"/>
            <a:chExt cx="5688" cy="7200"/>
          </a:xfrm>
        </p:grpSpPr>
        <p:sp>
          <p:nvSpPr>
            <p:cNvPr id="22" name="Shape 20"/>
            <p:cNvSpPr/>
            <p:nvPr/>
          </p:nvSpPr>
          <p:spPr>
            <a:xfrm>
              <a:off x="12816" y="2520"/>
              <a:ext cx="5688" cy="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D7A5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12816" y="2520"/>
              <a:ext cx="5688" cy="936"/>
            </a:xfrm>
            <a:prstGeom prst="rect">
              <a:avLst/>
            </a:prstGeom>
            <a:solidFill>
              <a:srgbClr val="064E3B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13104" y="2563"/>
              <a:ext cx="5184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9A84C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03  PERFORMANCE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3104" y="3672"/>
              <a:ext cx="5184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0D7A5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KPIs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3104" y="4104"/>
              <a:ext cx="5184" cy="201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0A1F1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On-Time, Delayed, Cancelled gauges + delay analysis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3104" y="6264"/>
              <a:ext cx="1440" cy="0"/>
            </a:xfrm>
            <a:prstGeom prst="line">
              <a:avLst/>
            </a:prstGeom>
            <a:noFill/>
            <a:ln w="25400">
              <a:solidFill>
                <a:srgbClr val="C9A84C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13104" y="6480"/>
              <a:ext cx="5184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300" dirty="0">
                  <a:solidFill>
                    <a:srgbClr val="0D7A5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INSIGHT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3104" y="6912"/>
              <a:ext cx="5184" cy="26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064E3B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On-time 87.03% (vs 90% target). Weather worst in April at 32.93 min.</a:t>
              </a:r>
              <a:endParaRPr lang="en-US" sz="13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14</a:t>
            </a:r>
            <a:endParaRPr lang="en-US" sz="11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872615"/>
            <a:ext cx="7442835" cy="40811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 •  POWER BI  •  GAUGES VS BENCHMARKS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we measure success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943600" cy="457200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7" name="Text 5"/>
          <p:cNvSpPr/>
          <p:nvPr/>
        </p:nvSpPr>
        <p:spPr>
          <a:xfrm>
            <a:off x="640080" y="16459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64592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6459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59436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640080" y="214884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On-Time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14884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87.03%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14884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90%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1488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On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5943600" cy="457200"/>
          </a:xfrm>
          <a:prstGeom prst="rect">
            <a:avLst/>
          </a:prstGeom>
          <a:solidFill>
            <a:srgbClr val="F1ECDC"/>
          </a:solidFill>
        </p:spPr>
      </p:sp>
      <p:sp>
        <p:nvSpPr>
          <p:cNvPr id="17" name="Text 15"/>
          <p:cNvSpPr/>
          <p:nvPr/>
        </p:nvSpPr>
        <p:spPr>
          <a:xfrm>
            <a:off x="640080" y="265176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65176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517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Below 2%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6517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59436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40080" y="31546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Cancelled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315468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6.16%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15468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Below 3%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1546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solidFill>
            <a:srgbClr val="F1ECDC"/>
          </a:solidFill>
        </p:spPr>
      </p:sp>
      <p:sp>
        <p:nvSpPr>
          <p:cNvPr id="27" name="Text 25"/>
          <p:cNvSpPr/>
          <p:nvPr/>
        </p:nvSpPr>
        <p:spPr>
          <a:xfrm>
            <a:off x="640080" y="365760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Delay 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65760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3.88 min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65760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Below 5 min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6576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target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Railway Dataset  •  End-to-End Analysis  •  Hager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091672" y="6547104"/>
            <a:ext cx="731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14</a:t>
            </a:r>
            <a:endParaRPr lang="en-US" sz="1100" dirty="0"/>
          </a:p>
        </p:txBody>
      </p:sp>
      <p:sp>
        <p:nvSpPr>
          <p:cNvPr id="32" name="Text 3"/>
          <p:cNvSpPr/>
          <p:nvPr/>
        </p:nvSpPr>
        <p:spPr>
          <a:xfrm>
            <a:off x="457200" y="4475480"/>
            <a:ext cx="10972800" cy="8229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According to the </a:t>
            </a: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Industry Benchmark for train stations: </a:t>
            </a: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the on-Time rate should be from </a:t>
            </a:r>
            <a:r>
              <a:rPr lang="en-US" sz="3200" b="1" dirty="0">
                <a:solidFill>
                  <a:srgbClr val="064E3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85–90%" </a:t>
            </a:r>
            <a:endParaRPr lang="en-US" sz="3200" b="1" dirty="0">
              <a:solidFill>
                <a:srgbClr val="064E3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3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4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5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6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7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8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9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0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1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2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3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4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5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6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7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8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19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0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1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2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3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ags/tag24.xml><?xml version="1.0" encoding="utf-8"?>
<p:tagLst xmlns:p="http://schemas.openxmlformats.org/presentationml/2006/main">
  <p:tag name="KSO_WM_DIAGRAM_VIRTUALLY_FRAME" val="{&quot;height&quot;:363.6,&quot;left&quot;:43.2,&quot;top&quot;:136.8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5580</Words>
  <Application>WPS Presentation</Application>
  <PresentationFormat>On-screen Show (16:9)</PresentationFormat>
  <Paragraphs>461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Dataset — End-to-End Data Analysis</dc:title>
  <dc:creator>Hager</dc:creator>
  <dc:subject>PptxGenJS Presentation</dc:subject>
  <cp:lastModifiedBy>Hager Mohamed</cp:lastModifiedBy>
  <cp:revision>10</cp:revision>
  <dcterms:created xsi:type="dcterms:W3CDTF">2026-05-19T14:45:00Z</dcterms:created>
  <dcterms:modified xsi:type="dcterms:W3CDTF">2026-05-23T12:54:07Z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98849042529140BBB0E9AE6759BB5374_13</vt:lpwstr>
  </property>
  <property fmtid="{D5CDD505-2E9C-101B-9397-08002B2CF9AE}" pid="3" name="KSOProductBuildVer">
    <vt:lpwstr>2057-12.2.0.23202</vt:lpwstr>
  </property>
</Properties>
</file>